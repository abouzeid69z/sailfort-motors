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Salifort Motors: understanding employee attrition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/>
            </a:pPr>
            <a:r>
              <a:t>PACE analysis: Plan • Analyze • Construct • Execute</a:t>
            </a:r>
          </a:p>
          <a:p>
            <a:pPr>
              <a:spcAft>
                <a:spcPts val="2000"/>
              </a:spcAft>
              <a:defRPr sz="2300"/>
            </a:pPr>
            <a:r>
              <a:t>Goal: understand recorded departure patterns and evaluate predictive performance.</a:t>
            </a:r>
          </a:p>
          <a:p>
            <a:pPr>
              <a:spcAft>
                <a:spcPts val="2000"/>
              </a:spcAft>
              <a:defRPr sz="2300"/>
            </a:pPr>
            <a:r>
              <a:t>Decision: validate retention hypotheses through a measured, supportive 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Data quality changes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/>
            </a:pPr>
            <a:r>
              <a:t>14,999 raw rows → 11,991 after removing exact duplicates.</a:t>
            </a:r>
          </a:p>
          <a:p>
            <a:pPr>
              <a:spcAft>
                <a:spcPts val="2000"/>
              </a:spcAft>
              <a:defRPr sz="2300"/>
            </a:pPr>
            <a:r>
              <a:t>Observed attrition: 23.8% raw → 16.6% deduplicated.</a:t>
            </a:r>
          </a:p>
          <a:p>
            <a:pPr>
              <a:spcAft>
                <a:spcPts val="2000"/>
              </a:spcAft>
              <a:defRPr sz="2300"/>
            </a:pPr>
            <a:r>
              <a:t>No missing cells; no employee IDs or dates. Confirm the deduplication assumption.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Observed attrition across employee groups</a:t>
            </a:r>
          </a:p>
        </p:txBody>
      </p:sp>
      <p:pic>
        <p:nvPicPr>
          <p:cNvPr id="3" name="Picture 2" descr="attrition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25880"/>
            <a:ext cx="10972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Workload and satisfaction: descriptive patterns</a:t>
            </a:r>
          </a:p>
        </p:txBody>
      </p:sp>
      <p:pic>
        <p:nvPicPr>
          <p:cNvPr id="3" name="Picture 2" descr="workload_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25880"/>
            <a:ext cx="10972800" cy="39901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How the model was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/>
            </a:pPr>
            <a:r>
              <a:t>Stratified 60/20/20 train/validation/test split; seed 42.</a:t>
            </a:r>
          </a:p>
          <a:p>
            <a:pPr>
              <a:spcAft>
                <a:spcPts val="2000"/>
              </a:spcAft>
              <a:defRPr sz="2300"/>
            </a:pPr>
            <a:r>
              <a:t>Training-only preprocessing; dummy, logistic, tree, and forest compared.</a:t>
            </a:r>
          </a:p>
          <a:p>
            <a:pPr>
              <a:spcAft>
                <a:spcPts val="2000"/>
              </a:spcAft>
              <a:defRPr sz="2300"/>
            </a:pPr>
            <a:r>
              <a:t>Select on validation average precision; refit on development data.</a:t>
            </a:r>
          </a:p>
          <a:p>
            <a:pPr>
              <a:spcAft>
                <a:spcPts val="2000"/>
              </a:spcAft>
              <a:defRPr sz="2300"/>
            </a:pPr>
            <a:r>
              <a:t>Evaluate the test set at a fixed 0.5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Held-out results: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/>
            </a:pPr>
            <a:r>
              <a:t>Precision 98.1% | Recall 91.5% | F1 0.947</a:t>
            </a:r>
          </a:p>
          <a:p>
            <a:pPr>
              <a:spcAft>
                <a:spcPts val="2000"/>
              </a:spcAft>
              <a:defRPr sz="2300"/>
            </a:pPr>
            <a:r>
              <a:t>Average precision 0.964 | Test prevalence 0.166</a:t>
            </a:r>
          </a:p>
          <a:p>
            <a:pPr>
              <a:spcAft>
                <a:spcPts val="2000"/>
              </a:spcAft>
              <a:defRPr sz="2300"/>
            </a:pPr>
            <a:r>
              <a:t>364 leavers identified; 34 missed; 7 stayers incorrectly flagged.</a:t>
            </a:r>
          </a:p>
          <a:p>
            <a:pPr>
              <a:spcAft>
                <a:spcPts val="2000"/>
              </a:spcAft>
              <a:defRPr sz="2300"/>
            </a:pPr>
            <a:r>
              <a:t>Retrospective performance does not prove prospective readiness.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Errors on the held-out test set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747" y="1325880"/>
            <a:ext cx="61722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Features supporting prediction, not causal claims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639" y="1325880"/>
            <a:ext cx="790041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Recommended retention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/>
            </a:pPr>
            <a:r>
              <a:t>HR + managers: review extreme workloads and project allocation.</a:t>
            </a:r>
          </a:p>
          <a:p>
            <a:pPr>
              <a:spcAft>
                <a:spcPts val="2000"/>
              </a:spcAft>
              <a:defRPr sz="2300"/>
            </a:pPr>
            <a:r>
              <a:t>Offer confidential feedback and voluntary support.</a:t>
            </a:r>
          </a:p>
          <a:p>
            <a:pPr>
              <a:spcAft>
                <a:spcPts val="2000"/>
              </a:spcAft>
              <a:defRPr sz="2300"/>
            </a:pPr>
            <a:r>
              <a:t>Evaluate retention and wellbeing against a defined comparison group.</a:t>
            </a:r>
          </a:p>
          <a:p>
            <a:pPr>
              <a:spcAft>
                <a:spcPts val="2000"/>
              </a:spcAft>
              <a:defRPr sz="2300"/>
            </a:pPr>
            <a:r>
              <a:t>Audit pay and progression; do not infer causal benefits from correlations.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Conditions before operational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/>
            </a:pPr>
            <a:r>
              <a:t>Confirm source, redistribution rights, and duplicate handling.</a:t>
            </a:r>
          </a:p>
          <a:p>
            <a:pPr>
              <a:spcAft>
                <a:spcPts val="2000"/>
              </a:spcAft>
              <a:defRPr sz="2300"/>
            </a:pPr>
            <a:r>
              <a:t>Verify when each feature was collected and define a prediction horizon.</a:t>
            </a:r>
          </a:p>
          <a:p>
            <a:pPr>
              <a:spcAft>
                <a:spcPts val="2000"/>
              </a:spcAft>
              <a:defRPr sz="2300"/>
            </a:pPr>
            <a:r>
              <a:t>Validate on a later employee cohort; assess calibration and fairness.</a:t>
            </a:r>
          </a:p>
          <a:p>
            <a:pPr>
              <a:spcAft>
                <a:spcPts val="2000"/>
              </a:spcAft>
              <a:defRPr sz="2300"/>
            </a:pPr>
            <a:r>
              <a:t>Choose an outreach threshold from costs and capacity; retain human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Salifort Motors | Retrospective analysis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